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1430">
            <a:solidFill>
              <a:srgbClr val="0B1220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658368" y="594360"/>
            <a:ext cx="10789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31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3100" dirty="0" b="1">
                <a:solidFill>
                  <a:srgbClr val="F8FAFC"/>
                </a:solidFill>
                <a:latin typeface="Aptos"/>
                <a:cs typeface="Aptos"/>
              </a:rPr>
              <a:t>Использование поведенческого анализа на основе AI</a:t>
            </a:r>
          </a:p>
          <a:p>
            <a:pPr>
              <a:defRPr sz="31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3100" dirty="0" b="1">
                <a:solidFill>
                  <a:srgbClr val="F8FAFC"/>
                </a:solidFill>
                <a:latin typeface="Aptos"/>
                <a:cs typeface="Aptos"/>
              </a:rPr>
              <a:t>для аутентификации транзакций и предотвращения phishing-атак</a:t>
            </a:r>
          </a:p>
        </p:txBody>
      </p:sp>
      <p:sp>
        <p:nvSpPr>
          <p:cNvPr id="5" name="Panel"/>
          <p:cNvSpPr/>
          <p:nvPr/>
        </p:nvSpPr>
        <p:spPr>
          <a:xfrm>
            <a:off x="694944" y="2057400"/>
            <a:ext cx="3840480" cy="36576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713232" y="233172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7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700" dirty="0">
                <a:solidFill>
                  <a:srgbClr val="CBD5E1"/>
                </a:solidFill>
                <a:latin typeface="Aptos"/>
                <a:cs typeface="Aptos"/>
              </a:rPr>
              <a:t>Магистерская дипломная работа</a:t>
            </a:r>
          </a:p>
          <a:p>
            <a:pPr>
              <a:defRPr sz="17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700" dirty="0">
                <a:solidFill>
                  <a:srgbClr val="CBD5E1"/>
                </a:solidFill>
                <a:latin typeface="Aptos"/>
                <a:cs typeface="Aptos"/>
              </a:rPr>
              <a:t>Студент: [ФИО]</a:t>
            </a:r>
          </a:p>
          <a:p>
            <a:pPr>
              <a:defRPr sz="17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700" dirty="0">
                <a:solidFill>
                  <a:srgbClr val="CBD5E1"/>
                </a:solidFill>
                <a:latin typeface="Aptos"/>
                <a:cs typeface="Aptos"/>
              </a:rPr>
              <a:t>Группа: [группа]</a:t>
            </a:r>
          </a:p>
          <a:p>
            <a:pPr>
              <a:defRPr sz="17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700" dirty="0">
                <a:solidFill>
                  <a:srgbClr val="CBD5E1"/>
                </a:solidFill>
                <a:latin typeface="Aptos"/>
                <a:cs typeface="Aptos"/>
              </a:rPr>
              <a:t>Руководитель: [ФИО, степень]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13232" y="587044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3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300" dirty="0">
                <a:solidFill>
                  <a:srgbClr val="94A3B8"/>
                </a:solidFill>
                <a:latin typeface="Aptos"/>
                <a:cs typeface="Aptos"/>
              </a:rPr>
              <a:t>Moldova State University / Государственный университет Молдовы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372600" y="587044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3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300" dirty="0">
                <a:solidFill>
                  <a:srgbClr val="94A3B8"/>
                </a:solidFill>
                <a:latin typeface="Aptos"/>
                <a:cs typeface="Aptos"/>
              </a:rPr>
              <a:t>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Актуальность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почему транзакции требуют risk-based проверки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685800" y="1417320"/>
            <a:ext cx="233172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718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850392" y="1581912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FB7185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FB7185"/>
                </a:solidFill>
                <a:latin typeface="Aptos"/>
                <a:cs typeface="Aptos"/>
              </a:rPr>
              <a:t>Phishing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850392" y="1947672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компрометация учётных данных</a:t>
            </a:r>
          </a:p>
        </p:txBody>
      </p:sp>
      <p:sp>
        <p:nvSpPr>
          <p:cNvPr id="9" name="Panel"/>
          <p:cNvSpPr/>
          <p:nvPr/>
        </p:nvSpPr>
        <p:spPr>
          <a:xfrm>
            <a:off x="3337560" y="1417320"/>
            <a:ext cx="233172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BF2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502152" y="1581912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FBBF24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FBBF24"/>
                </a:solidFill>
                <a:latin typeface="Aptos"/>
                <a:cs typeface="Aptos"/>
              </a:rPr>
              <a:t>MFA ≠ всё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502152" y="1947672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OTP может быть передан атакующему</a:t>
            </a:r>
          </a:p>
        </p:txBody>
      </p:sp>
      <p:sp>
        <p:nvSpPr>
          <p:cNvPr id="12" name="Panel"/>
          <p:cNvSpPr/>
          <p:nvPr/>
        </p:nvSpPr>
        <p:spPr>
          <a:xfrm>
            <a:off x="5989320" y="1417320"/>
            <a:ext cx="233172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60A5FA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6153912" y="1581912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60A5FA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60A5FA"/>
                </a:solidFill>
                <a:latin typeface="Aptos"/>
                <a:cs typeface="Aptos"/>
              </a:rPr>
              <a:t>Session risk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153912" y="1947672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после входа действия не всегда легитимны</a:t>
            </a:r>
          </a:p>
        </p:txBody>
      </p:sp>
      <p:sp>
        <p:nvSpPr>
          <p:cNvPr id="15" name="Panel"/>
          <p:cNvSpPr/>
          <p:nvPr/>
        </p:nvSpPr>
        <p:spPr>
          <a:xfrm>
            <a:off x="8641080" y="1417320"/>
            <a:ext cx="233172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8805672" y="1581912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22D3EE"/>
                </a:solidFill>
                <a:latin typeface="Aptos"/>
                <a:cs typeface="Aptos"/>
              </a:rPr>
              <a:t>Fraud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805672" y="1947672"/>
            <a:ext cx="200253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несанкционированные транзакции</a:t>
            </a:r>
          </a:p>
        </p:txBody>
      </p:sp>
      <p:sp>
        <p:nvSpPr>
          <p:cNvPr id="18" name="Panel"/>
          <p:cNvSpPr/>
          <p:nvPr/>
        </p:nvSpPr>
        <p:spPr>
          <a:xfrm>
            <a:off x="1234440" y="3794760"/>
            <a:ext cx="9692640" cy="1097280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22D3EE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1508760" y="4096512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1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100" dirty="0" b="1">
                <a:solidFill>
                  <a:srgbClr val="F8FAFC"/>
                </a:solidFill>
                <a:latin typeface="Aptos"/>
                <a:cs typeface="Aptos"/>
              </a:rPr>
              <a:t>Ключевая проблема: корректный пароль не доказывает, что критическую операцию выполняет легитимный пользователь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Цель и задачи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практическая цель и исследовательские шаги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85800" y="1234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0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1000" dirty="0" b="1">
                <a:solidFill>
                  <a:srgbClr val="22D3EE"/>
                </a:solidFill>
                <a:latin typeface="Aptos"/>
                <a:cs typeface="Aptos"/>
              </a:rPr>
              <a:t>ЦЕЛЬ</a:t>
            </a:r>
          </a:p>
        </p:txBody>
      </p:sp>
      <p:sp>
        <p:nvSpPr>
          <p:cNvPr id="7" name="Panel"/>
          <p:cNvSpPr/>
          <p:nvPr/>
        </p:nvSpPr>
        <p:spPr>
          <a:xfrm>
            <a:off x="685800" y="1508760"/>
            <a:ext cx="5120640" cy="100584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914400" y="1764792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000" dirty="0" b="1">
                <a:solidFill>
                  <a:srgbClr val="F8FAFC"/>
                </a:solidFill>
                <a:latin typeface="Aptos"/>
                <a:cs typeface="Aptos"/>
              </a:rPr>
              <a:t>Разработать прототип risk-based transaction authentication system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400800" y="1234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0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1000" dirty="0" b="1">
                <a:solidFill>
                  <a:srgbClr val="22D3EE"/>
                </a:solidFill>
                <a:latin typeface="Aptos"/>
                <a:cs typeface="Aptos"/>
              </a:rPr>
              <a:t>ЗАДАЧИ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400800" y="1554480"/>
            <a:ext cx="4846320" cy="2715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анализ угроз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выбор признаков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phishing detection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behavior collection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behavioral features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anomaly detection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transaction decision</a:t>
            </a:r>
          </a:p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• тестирование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Исследовательская идея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не web demo, а полный ML/risk pipeline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777240" y="1874519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60A5FA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23544" y="2093976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Dataset / events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880360" y="213055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9" name="Panel"/>
          <p:cNvSpPr/>
          <p:nvPr/>
        </p:nvSpPr>
        <p:spPr>
          <a:xfrm>
            <a:off x="3090672" y="1874519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236976" y="2093976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Features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193792" y="213055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2" name="Panel"/>
          <p:cNvSpPr/>
          <p:nvPr/>
        </p:nvSpPr>
        <p:spPr>
          <a:xfrm>
            <a:off x="5404104" y="1874519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550408" y="2093976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ML model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507224" y="213055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5" name="Panel"/>
          <p:cNvSpPr/>
          <p:nvPr/>
        </p:nvSpPr>
        <p:spPr>
          <a:xfrm>
            <a:off x="7717536" y="1874519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BF24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7863840" y="2093976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Risk score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820656" y="213055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8" name="Panel"/>
          <p:cNvSpPr/>
          <p:nvPr/>
        </p:nvSpPr>
        <p:spPr>
          <a:xfrm>
            <a:off x="10030968" y="1874519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718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10177272" y="2093976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Decision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051560" y="3703320"/>
            <a:ext cx="9875520" cy="1161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URL-признаки используются для phishing-классификации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События браузера агрегируются в behavioral feature vector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Итоговое решение объединяет два независимых risk-сигнала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Общая архитектура системы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frontend → backend API → ML modules → audit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685800" y="1143000"/>
            <a:ext cx="10835640" cy="4956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2D3EE"/>
            </a:solidFill>
          </a:ln>
        </p:spPr>
      </p:sp>
      <p:pic>
        <p:nvPicPr>
          <p:cNvPr id="7" name="end_to_en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88" y="1325880"/>
            <a:ext cx="9892862" cy="459028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Phishing detection: признаки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URLFeatures: несколько групп сигналов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685800" y="1143000"/>
            <a:ext cx="6400800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2D3EE"/>
            </a:solidFill>
          </a:ln>
        </p:spPr>
      </p:sp>
      <p:pic>
        <p:nvPicPr>
          <p:cNvPr id="7" name="phishing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96795"/>
            <a:ext cx="6035040" cy="321868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7452360" y="1417320"/>
            <a:ext cx="3931920" cy="1472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lexical</a:t>
            </a:r>
          </a:p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SSL / domain</a:t>
            </a:r>
          </a:p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HTML / JS</a:t>
            </a:r>
          </a:p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external / reputation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452360" y="4297680"/>
            <a:ext cx="3749039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7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700" dirty="0">
                <a:solidFill>
                  <a:srgbClr val="CBD5E1"/>
                </a:solidFill>
                <a:latin typeface="Aptos"/>
                <a:cs typeface="Aptos"/>
              </a:rPr>
              <a:t>Pipeline устойчив к ошибкам отдельных extractor-ов и использует кэширование признаков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Phishing detection: XGBoost model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feature importance из реального model artifact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685800" y="1143000"/>
            <a:ext cx="7452360" cy="4754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D399"/>
            </a:solidFill>
          </a:ln>
        </p:spPr>
      </p:sp>
      <p:pic>
        <p:nvPicPr>
          <p:cNvPr id="7" name="phishin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36192"/>
            <a:ext cx="7086600" cy="3968496"/>
          </a:xfrm>
          <a:prstGeom prst="rect">
            <a:avLst/>
          </a:prstGeom>
        </p:spPr>
      </p:pic>
      <p:sp>
        <p:nvSpPr>
          <p:cNvPr id="8" name="Panel"/>
          <p:cNvSpPr/>
          <p:nvPr/>
        </p:nvSpPr>
        <p:spPr>
          <a:xfrm>
            <a:off x="8549640" y="1417320"/>
            <a:ext cx="242316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714232" y="1581912"/>
            <a:ext cx="20939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34D399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34D399"/>
                </a:solidFill>
                <a:latin typeface="Aptos"/>
                <a:cs typeface="Aptos"/>
              </a:rPr>
              <a:t>XGBoost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714232" y="1947672"/>
            <a:ext cx="20939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URL classification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549640" y="28803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CBD5E1"/>
                </a:solidFill>
                <a:latin typeface="Aptos"/>
                <a:cs typeface="Aptos"/>
              </a:rPr>
              <a:t>Feature importance построен из реального XGBoost model artifact (`feature_importances_`)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549640" y="41605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7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700" dirty="0" b="1">
                <a:solidFill>
                  <a:srgbClr val="F8FAFC"/>
                </a:solidFill>
                <a:latin typeface="Aptos"/>
                <a:cs typeface="Aptos"/>
              </a:rPr>
              <a:t>Результат: legitimate / suspicious / phishing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Behavioral analysis: признаки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keystroke dynamics + mouse dynamics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685800" y="1143000"/>
            <a:ext cx="6400800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0A5FA"/>
            </a:solidFill>
          </a:ln>
        </p:spPr>
      </p:sp>
      <p:pic>
        <p:nvPicPr>
          <p:cNvPr id="7" name="behavior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96795"/>
            <a:ext cx="6035040" cy="321868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7452360" y="1417320"/>
            <a:ext cx="3931920" cy="20939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8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800" dirty="0">
                <a:solidFill>
                  <a:srgbClr val="CBD5E1"/>
                </a:solidFill>
                <a:latin typeface="Aptos"/>
                <a:cs typeface="Aptos"/>
              </a:rPr>
              <a:t>• Session duration</a:t>
            </a:r>
          </a:p>
          <a:p>
            <a:pPr>
              <a:defRPr sz="18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800" dirty="0">
                <a:solidFill>
                  <a:srgbClr val="CBD5E1"/>
                </a:solidFill>
                <a:latin typeface="Aptos"/>
                <a:cs typeface="Aptos"/>
              </a:rPr>
              <a:t>• dwell / flight time</a:t>
            </a:r>
          </a:p>
          <a:p>
            <a:pPr>
              <a:defRPr sz="18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800" dirty="0">
                <a:solidFill>
                  <a:srgbClr val="CBD5E1"/>
                </a:solidFill>
                <a:latin typeface="Aptos"/>
                <a:cs typeface="Aptos"/>
              </a:rPr>
              <a:t>• typing speed</a:t>
            </a:r>
          </a:p>
          <a:p>
            <a:pPr>
              <a:defRPr sz="18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800" dirty="0">
                <a:solidFill>
                  <a:srgbClr val="CBD5E1"/>
                </a:solidFill>
                <a:latin typeface="Aptos"/>
                <a:cs typeface="Aptos"/>
              </a:rPr>
              <a:t>• mouse path length</a:t>
            </a:r>
          </a:p>
          <a:p>
            <a:pPr>
              <a:defRPr sz="18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800" dirty="0">
                <a:solidFill>
                  <a:srgbClr val="CBD5E1"/>
                </a:solidFill>
                <a:latin typeface="Aptos"/>
                <a:cs typeface="Aptos"/>
              </a:rPr>
              <a:t>• clicks / scrolls</a:t>
            </a:r>
          </a:p>
          <a:p>
            <a:pPr>
              <a:defRPr sz="18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800" dirty="0">
                <a:solidFill>
                  <a:srgbClr val="CBD5E1"/>
                </a:solidFill>
                <a:latin typeface="Aptos"/>
                <a:cs typeface="Aptos"/>
              </a:rPr>
              <a:t>• average / max speed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Behavioral anomaly detection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baseline-модель для отклонений от нормального поведения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777240" y="1691640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60A5FA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23544" y="1911095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Browser events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880360" y="194767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9" name="Panel"/>
          <p:cNvSpPr/>
          <p:nvPr/>
        </p:nvSpPr>
        <p:spPr>
          <a:xfrm>
            <a:off x="3090672" y="1691640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236976" y="1911095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BehaviorSession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193792" y="194767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2" name="Panel"/>
          <p:cNvSpPr/>
          <p:nvPr/>
        </p:nvSpPr>
        <p:spPr>
          <a:xfrm>
            <a:off x="5404104" y="1691640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550408" y="1911095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BehaviorFeatures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507224" y="194767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5" name="Panel"/>
          <p:cNvSpPr/>
          <p:nvPr/>
        </p:nvSpPr>
        <p:spPr>
          <a:xfrm>
            <a:off x="7717536" y="1691640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BF24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7863840" y="1911095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IsolationForest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820656" y="1947672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22D3EE"/>
                </a:solidFill>
                <a:latin typeface="Aptos"/>
                <a:cs typeface="Aptos"/>
              </a:rPr>
              <a:t>→</a:t>
            </a:r>
          </a:p>
        </p:txBody>
      </p:sp>
      <p:sp>
        <p:nvSpPr>
          <p:cNvPr id="18" name="Panel"/>
          <p:cNvSpPr/>
          <p:nvPr/>
        </p:nvSpPr>
        <p:spPr>
          <a:xfrm>
            <a:off x="10030968" y="1691640"/>
            <a:ext cx="2057400" cy="786384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718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10177272" y="1911095"/>
            <a:ext cx="17647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600" dirty="0" b="1">
                <a:solidFill>
                  <a:srgbClr val="F8FAFC"/>
                </a:solidFill>
                <a:latin typeface="Aptos"/>
                <a:cs typeface="Aptos"/>
              </a:rPr>
              <a:t>Anomaly score</a:t>
            </a:r>
          </a:p>
        </p:txBody>
      </p:sp>
      <p:sp>
        <p:nvSpPr>
          <p:cNvPr id="20" name="Panel"/>
          <p:cNvSpPr/>
          <p:nvPr/>
        </p:nvSpPr>
        <p:spPr>
          <a:xfrm>
            <a:off x="1005840" y="3886200"/>
            <a:ext cx="10058400" cy="1143000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34D399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1280160" y="4187952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000" dirty="0" b="1">
                <a:solidFill>
                  <a:srgbClr val="F8FAFC"/>
                </a:solidFill>
                <a:latin typeface="Aptos"/>
                <a:cs typeface="Aptos"/>
              </a:rPr>
              <a:t>IsolationForest используется как baseline: модель выявляет сессии, статистически отличающиеся от ожидаемого поведения пользователя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Transaction risk decision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ALLOW / CHALLENGE / DENY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685800" y="1143000"/>
            <a:ext cx="7635240" cy="4754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BBF24"/>
            </a:solidFill>
          </a:ln>
        </p:spPr>
      </p:sp>
      <p:pic>
        <p:nvPicPr>
          <p:cNvPr id="7" name="transaction_deci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34371"/>
            <a:ext cx="7269480" cy="3172136"/>
          </a:xfrm>
          <a:prstGeom prst="rect">
            <a:avLst/>
          </a:prstGeom>
        </p:spPr>
      </p:pic>
      <p:sp>
        <p:nvSpPr>
          <p:cNvPr id="8" name="Panel"/>
          <p:cNvSpPr/>
          <p:nvPr/>
        </p:nvSpPr>
        <p:spPr>
          <a:xfrm>
            <a:off x="8686800" y="1325880"/>
            <a:ext cx="219456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851392" y="1490472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34D399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34D399"/>
                </a:solidFill>
                <a:latin typeface="Aptos"/>
                <a:cs typeface="Aptos"/>
              </a:rPr>
              <a:t>ALLOW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851392" y="1856231"/>
            <a:ext cx="18653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низкий риск</a:t>
            </a:r>
          </a:p>
        </p:txBody>
      </p:sp>
      <p:sp>
        <p:nvSpPr>
          <p:cNvPr id="11" name="Panel"/>
          <p:cNvSpPr/>
          <p:nvPr/>
        </p:nvSpPr>
        <p:spPr>
          <a:xfrm>
            <a:off x="8686800" y="2560320"/>
            <a:ext cx="219456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BF24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8851392" y="2724912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FBBF24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FBBF24"/>
                </a:solidFill>
                <a:latin typeface="Aptos"/>
                <a:cs typeface="Aptos"/>
              </a:rPr>
              <a:t>CHALLENGE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851392" y="3090672"/>
            <a:ext cx="18653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доп. проверка</a:t>
            </a:r>
          </a:p>
        </p:txBody>
      </p:sp>
      <p:sp>
        <p:nvSpPr>
          <p:cNvPr id="14" name="Panel"/>
          <p:cNvSpPr/>
          <p:nvPr/>
        </p:nvSpPr>
        <p:spPr>
          <a:xfrm>
            <a:off x="8686800" y="3794760"/>
            <a:ext cx="219456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7185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851392" y="3959352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FB7185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FB7185"/>
                </a:solidFill>
                <a:latin typeface="Aptos"/>
                <a:cs typeface="Aptos"/>
              </a:rPr>
              <a:t>DENY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851392" y="4325112"/>
            <a:ext cx="18653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блокировка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Реализованный прототип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web-система + ML-инференс + audit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777240" y="1280160"/>
            <a:ext cx="237744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41832" y="1444751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22D3EE"/>
                </a:solidFill>
                <a:latin typeface="Aptos"/>
                <a:cs typeface="Aptos"/>
              </a:rPr>
              <a:t>Backend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41832" y="1810512"/>
            <a:ext cx="20482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Django, DRF, PostgreSQL</a:t>
            </a:r>
          </a:p>
        </p:txBody>
      </p:sp>
      <p:sp>
        <p:nvSpPr>
          <p:cNvPr id="9" name="Panel"/>
          <p:cNvSpPr/>
          <p:nvPr/>
        </p:nvSpPr>
        <p:spPr>
          <a:xfrm>
            <a:off x="3429000" y="1280160"/>
            <a:ext cx="237744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60A5FA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593592" y="1444751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60A5FA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60A5FA"/>
                </a:solidFill>
                <a:latin typeface="Aptos"/>
                <a:cs typeface="Aptos"/>
              </a:rPr>
              <a:t>Frontend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593592" y="1810512"/>
            <a:ext cx="20482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React, TypeScript</a:t>
            </a:r>
          </a:p>
        </p:txBody>
      </p:sp>
      <p:sp>
        <p:nvSpPr>
          <p:cNvPr id="12" name="Panel"/>
          <p:cNvSpPr/>
          <p:nvPr/>
        </p:nvSpPr>
        <p:spPr>
          <a:xfrm>
            <a:off x="6080760" y="1280160"/>
            <a:ext cx="237744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6245352" y="1444751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34D399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34D399"/>
                </a:solidFill>
                <a:latin typeface="Aptos"/>
                <a:cs typeface="Aptos"/>
              </a:rPr>
              <a:t>ML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245352" y="1810512"/>
            <a:ext cx="20482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XGBoost, IsolationForest</a:t>
            </a:r>
          </a:p>
        </p:txBody>
      </p:sp>
      <p:sp>
        <p:nvSpPr>
          <p:cNvPr id="15" name="Panel"/>
          <p:cNvSpPr/>
          <p:nvPr/>
        </p:nvSpPr>
        <p:spPr>
          <a:xfrm>
            <a:off x="8732520" y="1280160"/>
            <a:ext cx="237744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BF24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8897112" y="1444751"/>
            <a:ext cx="204825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FBBF24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FBBF24"/>
                </a:solidFill>
                <a:latin typeface="Aptos"/>
                <a:cs typeface="Aptos"/>
              </a:rPr>
              <a:t>Audit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897112" y="1810512"/>
            <a:ext cx="20482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PhishingEvent, RiskAssessment</a:t>
            </a:r>
          </a:p>
        </p:txBody>
      </p:sp>
      <p:sp>
        <p:nvSpPr>
          <p:cNvPr id="18" name="Panel"/>
          <p:cNvSpPr/>
          <p:nvPr/>
        </p:nvSpPr>
        <p:spPr>
          <a:xfrm>
            <a:off x="1234440" y="3886200"/>
            <a:ext cx="9692640" cy="960120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FB718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1508760" y="4187952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000" dirty="0" b="1">
                <a:solidFill>
                  <a:srgbClr val="F8FAFC"/>
                </a:solidFill>
                <a:latin typeface="Aptos"/>
                <a:cs typeface="Aptos"/>
              </a:rPr>
              <a:t>Privacy: raw key values не сохраняются; используются хеши, timing и агрегированные признаки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Демонстрация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место под скриншоты реализованного прототипа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713232" y="1417320"/>
            <a:ext cx="3364992" cy="384048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41832" y="17190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800" dirty="0" b="1">
                <a:solidFill>
                  <a:srgbClr val="F8FAFC"/>
                </a:solidFill>
                <a:latin typeface="Aptos"/>
                <a:cs typeface="Aptos"/>
              </a:rPr>
              <a:t>Dashboard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41832" y="30632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94A3B8"/>
                </a:solidFill>
                <a:latin typeface="Aptos"/>
                <a:cs typeface="Aptos"/>
              </a:rPr>
              <a:t>screenshot placeholder</a:t>
            </a:r>
          </a:p>
        </p:txBody>
      </p:sp>
      <p:sp>
        <p:nvSpPr>
          <p:cNvPr id="9" name="Panel"/>
          <p:cNvSpPr/>
          <p:nvPr/>
        </p:nvSpPr>
        <p:spPr>
          <a:xfrm>
            <a:off x="4535424" y="1417320"/>
            <a:ext cx="3364992" cy="384048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4764024" y="17190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800" dirty="0" b="1">
                <a:solidFill>
                  <a:srgbClr val="F8FAFC"/>
                </a:solidFill>
                <a:latin typeface="Aptos"/>
                <a:cs typeface="Aptos"/>
              </a:rPr>
              <a:t>Transaction result card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764024" y="30632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94A3B8"/>
                </a:solidFill>
                <a:latin typeface="Aptos"/>
                <a:cs typeface="Aptos"/>
              </a:rPr>
              <a:t>screenshot placeholder</a:t>
            </a:r>
          </a:p>
        </p:txBody>
      </p:sp>
      <p:sp>
        <p:nvSpPr>
          <p:cNvPr id="12" name="Panel"/>
          <p:cNvSpPr/>
          <p:nvPr/>
        </p:nvSpPr>
        <p:spPr>
          <a:xfrm>
            <a:off x="8357615" y="1417320"/>
            <a:ext cx="3364992" cy="384048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FBBF24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8586215" y="17190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800" dirty="0" b="1">
                <a:solidFill>
                  <a:srgbClr val="F8FAFC"/>
                </a:solidFill>
                <a:latin typeface="Aptos"/>
                <a:cs typeface="Aptos"/>
              </a:rPr>
              <a:t>Django Admin: RiskAssessment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586215" y="30632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6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600" dirty="0">
                <a:solidFill>
                  <a:srgbClr val="94A3B8"/>
                </a:solidFill>
                <a:latin typeface="Aptos"/>
                <a:cs typeface="Aptos"/>
              </a:rPr>
              <a:t>screenshot placeholder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Тестирование и результаты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проверены основные подсистемы и privacy-требования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914400" y="1325880"/>
            <a:ext cx="274320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34D399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1078992" y="1490472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34D399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34D399"/>
                </a:solidFill>
                <a:latin typeface="Aptos"/>
                <a:cs typeface="Aptos"/>
              </a:rPr>
              <a:t>228 passed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078992" y="1856231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backend test suite</a:t>
            </a:r>
          </a:p>
        </p:txBody>
      </p:sp>
      <p:sp>
        <p:nvSpPr>
          <p:cNvPr id="9" name="Panel"/>
          <p:cNvSpPr/>
          <p:nvPr/>
        </p:nvSpPr>
        <p:spPr>
          <a:xfrm>
            <a:off x="4069080" y="1325880"/>
            <a:ext cx="274320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22D3EE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4233672" y="1490472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22D3EE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22D3EE"/>
                </a:solidFill>
                <a:latin typeface="Aptos"/>
                <a:cs typeface="Aptos"/>
              </a:rPr>
              <a:t>passed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233672" y="1856231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frontend production build</a:t>
            </a:r>
          </a:p>
        </p:txBody>
      </p:sp>
      <p:sp>
        <p:nvSpPr>
          <p:cNvPr id="12" name="Panel"/>
          <p:cNvSpPr/>
          <p:nvPr/>
        </p:nvSpPr>
        <p:spPr>
          <a:xfrm>
            <a:off x="7223760" y="1325880"/>
            <a:ext cx="2743200" cy="914400"/>
          </a:xfrm>
          <a:prstGeom prst="roundRect">
            <a:avLst/>
          </a:prstGeom>
          <a:solidFill>
            <a:srgbClr val="111827"/>
          </a:solidFill>
          <a:ln w="11430">
            <a:solidFill>
              <a:srgbClr val="60A5FA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7388352" y="1490472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600" dirty="0">
                <a:solidFill>
                  <a:srgbClr val="60A5FA"/>
                </a:solidFill>
                <a:latin typeface="Aptos"/>
                <a:cs typeface="Aptos"/>
              </a:defRPr>
            </a:pPr>
            <a:r>
              <a:rPr lang="ru-RU" sz="2600" dirty="0" b="1">
                <a:solidFill>
                  <a:srgbClr val="60A5FA"/>
                </a:solidFill>
                <a:latin typeface="Aptos"/>
                <a:cs typeface="Aptos"/>
              </a:rPr>
              <a:t>covered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388352" y="1856231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1100" dirty="0">
                <a:solidFill>
                  <a:srgbClr val="CBD5E1"/>
                </a:solidFill>
                <a:latin typeface="Aptos"/>
                <a:cs typeface="Aptos"/>
              </a:rPr>
              <a:t>pipeline + decision + privacy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143000" y="3337560"/>
            <a:ext cx="9784080" cy="20939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phishing pipeline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behavior collection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feature extraction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anomaly detector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transaction decision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raw key values privacy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Практическое применение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дополнительный risk engine, не замена MFA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68680" y="1325880"/>
            <a:ext cx="4846320" cy="1472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digital banking</a:t>
            </a:r>
          </a:p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fintech</a:t>
            </a:r>
          </a:p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e-commerce</a:t>
            </a:r>
          </a:p>
          <a:p>
            <a:pPr>
              <a:defRPr sz="24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400" dirty="0">
                <a:solidFill>
                  <a:srgbClr val="F8FAFC"/>
                </a:solidFill>
                <a:latin typeface="Aptos"/>
                <a:cs typeface="Aptos"/>
              </a:rPr>
              <a:t>• corporate systems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400800" y="1325880"/>
            <a:ext cx="457200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денежные переводы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новый получатель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крупная сумма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изменение реквизитов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доступ к чувствительным данным</a:t>
            </a:r>
          </a:p>
        </p:txBody>
      </p:sp>
      <p:sp>
        <p:nvSpPr>
          <p:cNvPr id="8" name="Panel"/>
          <p:cNvSpPr/>
          <p:nvPr/>
        </p:nvSpPr>
        <p:spPr>
          <a:xfrm>
            <a:off x="1188720" y="4892040"/>
            <a:ext cx="9784080" cy="658368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22D3EE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1463040" y="5074920"/>
            <a:ext cx="9235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1800" dirty="0" b="1">
                <a:solidFill>
                  <a:srgbClr val="F8FAFC"/>
                </a:solidFill>
                <a:latin typeface="Aptos"/>
                <a:cs typeface="Aptos"/>
              </a:rPr>
              <a:t>Система добавляет адаптивный слой риска поверх существующей аутентификации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Ограничения и развитие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что требуется для production-уровня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868680" y="1234440"/>
            <a:ext cx="5029200" cy="1472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персональные behavior-модели</a:t>
            </a:r>
          </a:p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больше пользовательских данных</a:t>
            </a:r>
          </a:p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model lifecycle и версионирование</a:t>
            </a:r>
          </a:p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интеграция MFA / OTP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446520" y="1234440"/>
            <a:ext cx="4754880" cy="1472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защита collector-а</a:t>
            </a:r>
          </a:p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production monitoring</a:t>
            </a:r>
          </a:p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настройка порогов риска</a:t>
            </a:r>
          </a:p>
          <a:p>
            <a:pPr>
              <a:defRPr sz="21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100" dirty="0">
                <a:solidFill>
                  <a:srgbClr val="CBD5E1"/>
                </a:solidFill>
                <a:latin typeface="Aptos"/>
                <a:cs typeface="Aptos"/>
              </a:rPr>
              <a:t>• расширение phishing dataset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/>
          <p:cNvSpPr txBox="1"/>
          <p:nvPr/>
        </p:nvSpPr>
        <p:spPr>
          <a:xfrm>
            <a:off x="502920" y="29260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8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800" dirty="0" b="1">
                <a:solidFill>
                  <a:srgbClr val="F8FAFC"/>
                </a:solidFill>
                <a:latin typeface="Aptos"/>
                <a:cs typeface="Aptos"/>
              </a:rPr>
              <a:t>Выводы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713232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12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1200" dirty="0">
                <a:solidFill>
                  <a:srgbClr val="94A3B8"/>
                </a:solidFill>
                <a:latin typeface="Aptos"/>
                <a:cs typeface="Aptos"/>
              </a:rPr>
              <a:t>результат магистерской работы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941832"/>
            <a:ext cx="1828800" cy="32004"/>
          </a:xfrm>
          <a:prstGeom prst="rect">
            <a:avLst/>
          </a:prstGeom>
          <a:solidFill>
            <a:srgbClr val="22D3EE"/>
          </a:solidFill>
          <a:ln w="11430">
            <a:solidFill>
              <a:srgbClr val="22D3EE"/>
            </a:solidFill>
          </a:ln>
        </p:spPr>
      </p:sp>
      <p:sp>
        <p:nvSpPr>
          <p:cNvPr id="6" name="Panel"/>
          <p:cNvSpPr/>
          <p:nvPr/>
        </p:nvSpPr>
        <p:spPr>
          <a:xfrm>
            <a:off x="914400" y="1417320"/>
            <a:ext cx="10287000" cy="1143000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22D3EE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1188720" y="1755648"/>
            <a:ext cx="9738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200" dirty="0">
                <a:solidFill>
                  <a:srgbClr val="F8FAFC"/>
                </a:solidFill>
                <a:latin typeface="Aptos"/>
                <a:cs typeface="Aptos"/>
              </a:defRPr>
            </a:pPr>
            <a:r>
              <a:rPr lang="ru-RU" sz="2200" dirty="0" b="1">
                <a:solidFill>
                  <a:srgbClr val="F8FAFC"/>
                </a:solidFill>
                <a:latin typeface="Aptos"/>
                <a:cs typeface="Aptos"/>
              </a:rPr>
              <a:t>Разработан end-to-end прототип, объединяющий phishing AI и behavioral AI для оценки риска транзакций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051560" y="3154680"/>
            <a:ext cx="9875520" cy="1472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реализован ML pipeline для URL-классификации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реализован сбор и агрегация поведенческих признаков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risk decision объяснимо переводит score в ALLOW / CHALLENGE / DENY</a:t>
            </a:r>
          </a:p>
          <a:p>
            <a:pPr>
              <a:defRPr sz="2000" dirty="0">
                <a:solidFill>
                  <a:srgbClr val="CBD5E1"/>
                </a:solidFill>
                <a:latin typeface="Aptos"/>
                <a:cs typeface="Aptos"/>
              </a:defRPr>
            </a:pPr>
            <a:r>
              <a:rPr lang="ru-RU" sz="2000" dirty="0">
                <a:solidFill>
                  <a:srgbClr val="CBD5E1"/>
                </a:solidFill>
                <a:latin typeface="Aptos"/>
                <a:cs typeface="Aptos"/>
              </a:rPr>
              <a:t>• подход применим как дополнительный слой защиты в fintech и banking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502920" y="6437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AI behavioral authentication + phishing prevention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201400" y="64373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 sz="900" dirty="0">
                <a:solidFill>
                  <a:srgbClr val="94A3B8"/>
                </a:solidFill>
                <a:latin typeface="Aptos"/>
                <a:cs typeface="Aptos"/>
              </a:defRPr>
            </a:pPr>
            <a:r>
              <a:rPr lang="ru-RU" sz="900" dirty="0">
                <a:solidFill>
                  <a:srgbClr val="94A3B8"/>
                </a:solidFill>
                <a:latin typeface="Aptos"/>
                <a:cs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 Fintech">
  <a:themeElements>
    <a:clrScheme name="Cyber">
      <a:dk1>
        <a:srgbClr val="0B1220"/>
      </a:dk1>
      <a:lt1>
        <a:srgbClr val="F8FAFC"/>
      </a:lt1>
      <a:dk2>
        <a:srgbClr val="111827"/>
      </a:dk2>
      <a:lt2>
        <a:srgbClr val="CBD5E1"/>
      </a:lt2>
      <a:accent1>
        <a:srgbClr val="22D3EE"/>
      </a:accent1>
      <a:accent2>
        <a:srgbClr val="34D399"/>
      </a:accent2>
      <a:accent3>
        <a:srgbClr val="FBBF24"/>
      </a:accent3>
      <a:accent4>
        <a:srgbClr val="FB7185"/>
      </a:accent4>
      <a:accent5>
        <a:srgbClr val="60A5FA"/>
      </a:accent5>
      <a:accent6>
        <a:srgbClr val="94A3B8"/>
      </a:accent6>
      <a:hlink>
        <a:srgbClr val="22D3EE"/>
      </a:hlink>
      <a:folHlink>
        <a:srgbClr val="60A5FA"/>
      </a:folHlink>
    </a:clrScheme>
    <a:fontScheme name="Aptos">
      <a:majorFont>
        <a:latin typeface="Aptos"/>
        <a:cs typeface="Aptos"/>
      </a:majorFont>
      <a:minorFont>
        <a:latin typeface="Aptos"/>
        <a:cs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поведенческого анализа на основе AI для аутентификации транзакций и предотвращения phishing-атак</dc:title>
  <dc:creator>Codex</dc:creator>
  <cp:lastModifiedBy>Codex</cp:lastModifiedBy>
</cp:coreProperties>
</file>